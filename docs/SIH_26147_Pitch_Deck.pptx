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Val. accuracy</c:v>
                </c:pt>
              </c:strCache>
            </c:strRef>
          </c:tx>
          <c:spPr>
            <a:solidFill>
              <a:srgbClr val="4FD1C5"/>
            </a:solidFill>
            <a:ln w="31750" cap="flat">
              <a:solidFill>
                <a:srgbClr val="4FD1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8B96A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D1C5"/>
              </a:solidFill>
              <a:ln w="9525" cap="flat">
                <a:solidFill>
                  <a:srgbClr val="4FD1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-5</c:v>
                  </c:pt>
                  <c:pt idx="1">
                    <c:v>0</c:v>
                  </c:pt>
                  <c:pt idx="2">
                    <c:v>5</c:v>
                  </c:pt>
                  <c:pt idx="3">
                    <c:v>10</c:v>
                  </c:pt>
                  <c:pt idx="4">
                    <c:v>15</c:v>
                  </c:pt>
                  <c:pt idx="5">
                    <c:v>20</c:v>
                  </c:pt>
                  <c:pt idx="6">
                    <c:v>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61</c:v>
                </c:pt>
                <c:pt idx="2">
                  <c:v>66</c:v>
                </c:pt>
                <c:pt idx="3">
                  <c:v>68</c:v>
                </c:pt>
                <c:pt idx="4">
                  <c:v>65</c:v>
                </c:pt>
                <c:pt idx="5">
                  <c:v>70</c:v>
                </c:pt>
                <c:pt idx="6">
                  <c:v>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8B96A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A657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A6570"/>
                    </a:solidFill>
                    <a:latin typeface="Arial"/>
                  </a:rPr>
                  <a:t>SNR (dB)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13A4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6A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232A3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A657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A657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6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B"/>
        </a:solidFill>
        <a:ln>
          <a:noFill/>
        </a:ln>
        <a:effectLst/>
      </c:spPr>
    </c:plotArea>
    <c:plotVisOnly val="1"/>
    <c:dispBlanksAs val="span"/>
  </c:chart>
  <c:spPr>
    <a:solidFill>
      <a:srgbClr val="12161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team name / leader placeholders before submission. The waterfall swatch uses the exact 5-stop colormap implemented in the shipped React frontend (theme.css / Waterfall.tsx) -- this deck deliberately reuses the real product's visual identity rather than inventing a separate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build/waterfall_s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868680"/>
            <a:ext cx="3657600" cy="24387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09560" y="868680"/>
            <a:ext cx="3657600" cy="2438705"/>
          </a:xfrm>
          <a:prstGeom prst="roundRect">
            <a:avLst>
              <a:gd name="adj" fmla="val 1875"/>
            </a:avLst>
          </a:prstGeom>
          <a:ln w="15875">
            <a:solidFill>
              <a:srgbClr val="313A4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90956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WATERFALL · SIGNATURE COLORMAP REUSED THROUGHOUT THE UI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85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 ·  PROBLEM STATEMENT 26147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051560"/>
            <a:ext cx="7040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E4E9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RF Signal Analysis &amp;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E4E9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Extraction Platform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788920"/>
            <a:ext cx="6903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Confidence-aware .IQ / .WAV analysis — modulation ID, demodulation, de-interleaving,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 decoding, and bitstream correlation, fusing deterministic DSP with a trained classifier.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384048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4088" y="390448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704088" y="410565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468880" y="384048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78608" y="390448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2578608" y="410565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43400" y="3840480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53128" y="390448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453128" y="410565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HONESTY-FIRST OUTPUT VOCABULARY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4360" y="5193792"/>
            <a:ext cx="801014" cy="310896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5193792"/>
            <a:ext cx="801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514246" y="5193792"/>
            <a:ext cx="875995" cy="310896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2700">
            <a:solidFill>
              <a:srgbClr val="38A3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514246" y="5193792"/>
            <a:ext cx="8759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509114" y="5193792"/>
            <a:ext cx="801014" cy="310896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09114" y="5193792"/>
            <a:ext cx="801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429000" y="5193792"/>
            <a:ext cx="1100938" cy="310896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429000" y="5193792"/>
            <a:ext cx="1100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648810" y="5193792"/>
            <a:ext cx="726034" cy="310896"/>
          </a:xfrm>
          <a:prstGeom prst="roundRect">
            <a:avLst>
              <a:gd name="adj" fmla="val 50000"/>
            </a:avLst>
          </a:prstGeom>
          <a:solidFill>
            <a:srgbClr val="171C22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48810" y="5193792"/>
            <a:ext cx="726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________________________          Team Leader: ________________________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E9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Guesswork to Confidence-Scored Intelligence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SIGNAL ANALYSIS PLATFORM  ·  SIH 26147  · 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401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5349240" cy="4617720"/>
          </a:xfrm>
          <a:prstGeom prst="roundRect">
            <a:avLst>
              <a:gd name="adj" fmla="val 1386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21992"/>
            <a:ext cx="292608" cy="292608"/>
          </a:xfrm>
          <a:prstGeom prst="ellipse">
            <a:avLst/>
          </a:prstGeom>
          <a:solidFill>
            <a:srgbClr val="171C22"/>
          </a:solidFill>
          <a:ln w="15875">
            <a:solidFill>
              <a:srgbClr val="FF4D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21671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one-signal-at-a-time analysis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45059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eyeball waterfalls and hand-tune demodulators per recording — slow, and not repeatable across sensors.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255264"/>
            <a:ext cx="292608" cy="292608"/>
          </a:xfrm>
          <a:prstGeom prst="ellipse">
            <a:avLst/>
          </a:prstGeom>
          <a:solidFill>
            <a:srgbClr val="171C22"/>
          </a:solidFill>
          <a:ln w="15875">
            <a:solidFill>
              <a:srgbClr val="FF4D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32004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can't be trusted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48386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rate, format, and center frequency vary by sensor/location and are often incomplete or wrong.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4288536"/>
            <a:ext cx="292608" cy="292608"/>
          </a:xfrm>
          <a:prstGeom prst="ellipse">
            <a:avLst/>
          </a:prstGeom>
          <a:solidFill>
            <a:srgbClr val="171C22"/>
          </a:solidFill>
          <a:ln w="15875">
            <a:solidFill>
              <a:srgbClr val="FF4D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2336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 parameters go unextracted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451713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 family, interleaving, symbol rate, and framing structure are rarely recovered at all today.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5321808"/>
            <a:ext cx="292608" cy="292608"/>
          </a:xfrm>
          <a:prstGeom prst="ellipse">
            <a:avLst/>
          </a:prstGeom>
          <a:solidFill>
            <a:srgbClr val="171C22"/>
          </a:solidFill>
          <a:ln w="15875">
            <a:solidFill>
              <a:srgbClr val="FF4D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321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52669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confidence, no evidence trail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555040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guessed label with no uncertainty and no way to reproduce how it was reached.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1554480"/>
            <a:ext cx="5440680" cy="4617720"/>
          </a:xfrm>
          <a:prstGeom prst="roundRect">
            <a:avLst>
              <a:gd name="adj" fmla="val 1386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2221992"/>
            <a:ext cx="292608" cy="292608"/>
          </a:xfrm>
          <a:prstGeom prst="ellipse">
            <a:avLst/>
          </a:prstGeom>
          <a:solidFill>
            <a:srgbClr val="171C22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21671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full pipeline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31152" y="245059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detect → classify → demodulate → de-interleave → FEC-decode → correlate bitstream → report.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3255264"/>
            <a:ext cx="292608" cy="292608"/>
          </a:xfrm>
          <a:prstGeom prst="ellipse">
            <a:avLst/>
          </a:prstGeom>
          <a:solidFill>
            <a:srgbClr val="171C22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31152" y="32004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+ AI confidence fusion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31152" y="348386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DSP classifier and a trained CNN vote independently; agreement boosts confidence, disagreement surfaces both hypotheses honestly.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92240" y="4288536"/>
            <a:ext cx="292608" cy="292608"/>
          </a:xfrm>
          <a:prstGeom prst="ellipse">
            <a:avLst/>
          </a:prstGeom>
          <a:solidFill>
            <a:srgbClr val="171C22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931152" y="42336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SigMF-native, format-honest ingestion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931152" y="45171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Auto-pairs .sigmf-data/.sigmf-meta, parses the full datatype vocabulary, and never fabricates a sample rate when metadata is missing.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92240" y="5321808"/>
            <a:ext cx="292608" cy="292608"/>
          </a:xfrm>
          <a:prstGeom prst="ellipse">
            <a:avLst/>
          </a:prstGeom>
          <a:solidFill>
            <a:srgbClr val="171C22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92240" y="5321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931152" y="5266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Analyst-in-the-loop, reproducible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931152" y="555040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any value and re-run just the affected stages; every result exports as JSON / CSV / PDF / SigMF annotations.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E9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17-Stage Pipeline, Hybrid DSP + AI at the Core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SIGNAL ANALYSIS PLATFORM  ·  SIH 26147  · 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401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2161B"/>
          </a:solidFill>
          <a:ln w="15875">
            <a:solidFill>
              <a:srgbClr val="38A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9164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(SigMF/IQ/WAV)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691640"/>
            <a:ext cx="1143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51660" y="169164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2161B"/>
          </a:solidFill>
          <a:ln w="15875">
            <a:solidFill>
              <a:srgbClr val="38A3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97380" y="169164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994660" y="1691640"/>
            <a:ext cx="1143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169164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2161B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4680" y="169164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1691640"/>
            <a:ext cx="1143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66260" y="169164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2161B"/>
          </a:solidFill>
          <a:ln w="15875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11980" y="169164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509260" y="1691640"/>
            <a:ext cx="1143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23560" y="169164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2161B"/>
          </a:solidFill>
          <a:ln w="15875">
            <a:solidFill>
              <a:srgbClr val="FF8A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0" y="169164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691640"/>
            <a:ext cx="1143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80860" y="169164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2161B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26580" y="169164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Demod +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De-interleave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023860" y="1691640"/>
            <a:ext cx="1143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169164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2161B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169164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1691640"/>
            <a:ext cx="1143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395460" y="169164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2161B"/>
          </a:solidFill>
          <a:ln w="15875">
            <a:solidFill>
              <a:srgbClr val="38A3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41180" y="169164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538460" y="1691640"/>
            <a:ext cx="1143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652760" y="169164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12161B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98480" y="169164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2697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and AI classifiers run independently on every recording and are combined by a dedicated fusion engine — not a single black-box model.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3246120"/>
            <a:ext cx="3611880" cy="2971800"/>
          </a:xfrm>
          <a:prstGeom prst="roundRect">
            <a:avLst>
              <a:gd name="adj" fmla="val 2154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34472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3813048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React/TypeScript GUI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SciPy / scikit-commpy (BSD) DSP core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CNN classifier, temperature-calibrated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reedsolo (RS) + custom Viterbi FEC hypothesis search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PDF, SigMF-native everywhere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25696" y="3246120"/>
            <a:ext cx="3611880" cy="2971800"/>
          </a:xfrm>
          <a:prstGeom prst="roundRect">
            <a:avLst>
              <a:gd name="adj" fmla="val 2154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54296" y="34472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CAPABILITIES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654296" y="3813048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Modulation: BPSK/QPSK/8PSK/16&amp;64QAM/2&amp;4FSK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De-interleaving: block, convolutional, diagonal, PRN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FEC: convolutional (Viterbi) + Reed–Solomon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Bitstream: sync-word, framing, entropy, byte-align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full-file scan — bounded memory, any file size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57032" y="3246120"/>
            <a:ext cx="3611880" cy="2971800"/>
          </a:xfrm>
          <a:prstGeom prst="roundRect">
            <a:avLst>
              <a:gd name="adj" fmla="val 2154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85632" y="34472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485632" y="3813048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fusion, not a single guessed label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Five-state honesty vocabulary end-to-end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overrides trigger a scoped re-run, not a redo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export is reproducible: model + params + hash</a:t>
            </a:r>
            <a:endParaRPr lang="en-US" sz="105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extend — registries for demod/FEC/interleave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E9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Concept Slide — A Working, Tested System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SIGNAL ANALYSIS PLATFORM  ·  SIH 26147  · 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401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2697480" cy="960120"/>
          </a:xfrm>
          <a:prstGeom prst="roundRect">
            <a:avLst>
              <a:gd name="adj" fmla="val 6667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2423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 / 142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697480" cy="960120"/>
          </a:xfrm>
          <a:prstGeom prst="roundRect">
            <a:avLst>
              <a:gd name="adj" fmla="val 6667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691640"/>
            <a:ext cx="2423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~50K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CNN CLASSIFIER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2697480" cy="960120"/>
          </a:xfrm>
          <a:prstGeom prst="roundRect">
            <a:avLst>
              <a:gd name="adj" fmla="val 6667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691640"/>
            <a:ext cx="2423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38A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FORMATS: PDF/JSON/CSV/SIGMF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235440" y="1600200"/>
            <a:ext cx="2697480" cy="960120"/>
          </a:xfrm>
          <a:prstGeom prst="roundRect">
            <a:avLst>
              <a:gd name="adj" fmla="val 6667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72600" y="1691640"/>
            <a:ext cx="24231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STAGES, END TO END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2743200"/>
            <a:ext cx="5532120" cy="3429000"/>
          </a:xfrm>
          <a:prstGeom prst="roundRect">
            <a:avLst>
              <a:gd name="adj" fmla="val 1867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MODULATION-CLASSIFIER ACCURACY vs. SNR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77240" y="3246120"/>
          <a:ext cx="51663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309360" y="2743200"/>
            <a:ext cx="5285232" cy="3429000"/>
          </a:xfrm>
          <a:prstGeom prst="roundRect">
            <a:avLst>
              <a:gd name="adj" fmla="val 1867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CHALLENGES — AND HOW WE'VE ADDRESSED THEM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32461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PSK/QAM order confusion in the AI classifier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fusion: DSP's M-th-power method is independently reliable here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39410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Multi-hundred-GB recordings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Chunked, memory-mapped scan — never loads a full file into RAM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46360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FEC / interleaver identification is not fully solvable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a ranked, evidenced hypothesis — never a false certainty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533095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LDPC decoding, closed-loop timing recovery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roadmap; registries already support adding them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E9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Signal Intelligence, Less Analyst Time per Recording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SIGNAL ANALYSIS PLATFORM  ·  SIH 26147  · 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401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10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8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212848"/>
            <a:ext cx="54864" cy="713232"/>
          </a:xfrm>
          <a:prstGeom prst="roundRect">
            <a:avLst/>
          </a:prstGeom>
          <a:solidFill>
            <a:srgbClr val="38A3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17627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 / RF analysts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688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from raw capture to a structured, evidenced parameter set in one click instead of manual per-signal tuning.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868680" y="3127248"/>
            <a:ext cx="54864" cy="713232"/>
          </a:xfrm>
          <a:prstGeom prst="roundRect">
            <a:avLst/>
          </a:prstGeom>
          <a:solidFill>
            <a:srgbClr val="38A3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09067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operations teams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3832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format-honest ingestion across sensors with different metadata quality — nothing silently guessed.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68680" y="4041648"/>
            <a:ext cx="54864" cy="713232"/>
          </a:xfrm>
          <a:prstGeom prst="roundRect">
            <a:avLst/>
          </a:prstGeom>
          <a:solidFill>
            <a:srgbClr val="38A3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00507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processing systems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2976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Richer, machine-readable output (JSON / SigMF annotations) feeds directly into sensor tasking and cataloguing.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68680" y="4956048"/>
            <a:ext cx="54864" cy="713232"/>
          </a:xfrm>
          <a:prstGeom prst="roundRect">
            <a:avLst/>
          </a:prstGeom>
          <a:solidFill>
            <a:srgbClr val="38A3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491947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knowledge transfer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2120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reproducible and evidence-annotated — junior analysts see the reasoning, not just the label.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263640" y="1600200"/>
            <a:ext cx="5330952" cy="4480560"/>
          </a:xfrm>
          <a:prstGeom prst="roundRect">
            <a:avLst>
              <a:gd name="adj" fmla="val 1429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1810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21762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inspectrum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582912" y="21762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IQEngine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296144" y="21762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FISSURE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9376" y="21762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37960" y="2468880"/>
            <a:ext cx="4846320" cy="365760"/>
          </a:xfrm>
          <a:prstGeom prst="rect">
            <a:avLst/>
          </a:prstGeom>
          <a:solidFill>
            <a:srgbClr val="171C2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signal detection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24871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582912" y="24871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296144" y="24871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009376" y="248716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Confidence-fused AI + DSP</a:t>
            </a:r>
            <a:endParaRPr lang="en-US" sz="93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287121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582912" y="287121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296144" y="287121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009376" y="287121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37960" y="3236976"/>
            <a:ext cx="4846320" cy="365760"/>
          </a:xfrm>
          <a:prstGeom prst="rect">
            <a:avLst/>
          </a:prstGeom>
          <a:solidFill>
            <a:srgbClr val="171C2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8368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 + de-interleave hypotheses</a:t>
            </a:r>
            <a:endParaRPr lang="en-US" sz="930" dirty="0"/>
          </a:p>
        </p:txBody>
      </p:sp>
      <p:sp>
        <p:nvSpPr>
          <p:cNvPr id="39" name="Text 37"/>
          <p:cNvSpPr txBox="1"/>
          <p:nvPr/>
        </p:nvSpPr>
        <p:spPr>
          <a:xfrm>
            <a:off x="8869680" y="325526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582912" y="325526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296144" y="325526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1009376" y="325526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0" y="36393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override → scoped re-run</a:t>
            </a:r>
            <a:endParaRPr lang="en-US" sz="930" dirty="0"/>
          </a:p>
        </p:txBody>
      </p:sp>
      <p:sp>
        <p:nvSpPr>
          <p:cNvPr id="44" name="Text 42"/>
          <p:cNvSpPr txBox="1"/>
          <p:nvPr/>
        </p:nvSpPr>
        <p:spPr>
          <a:xfrm>
            <a:off x="8869680" y="363931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582912" y="363931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296144" y="363931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1009376" y="363931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537960" y="4005072"/>
            <a:ext cx="4846320" cy="365760"/>
          </a:xfrm>
          <a:prstGeom prst="rect">
            <a:avLst/>
          </a:prstGeom>
          <a:solidFill>
            <a:srgbClr val="171C2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0" y="40233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SigMF-native, honest metadata</a:t>
            </a:r>
            <a:endParaRPr lang="en-US" sz="930" dirty="0"/>
          </a:p>
        </p:txBody>
      </p:sp>
      <p:sp>
        <p:nvSpPr>
          <p:cNvPr id="50" name="Text 48"/>
          <p:cNvSpPr txBox="1"/>
          <p:nvPr/>
        </p:nvSpPr>
        <p:spPr>
          <a:xfrm>
            <a:off x="8869680" y="402336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9582912" y="402336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296144" y="402336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1009376" y="402336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537960" y="4544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reflects each tool's default/native capability, based on our own architecture research (see References).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REFERENCES &amp;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E9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Prior Art, Honest About What's Next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SIGNAL ANALYSIS PLATFORM  ·  SIH 26147  ·  NTRO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401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10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CORPUS REVIEWED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762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IQEngine (MIT)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04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SigMF data model + chunked-access UX pattern, referenced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249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inspectrum / SNAIL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953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mmap-backed large-file viewing pattern, referenced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735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Radio (GPL-3.0)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502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reference only — not linked, license-isolated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8221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scikit-commpy (BSD-3)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050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PSK/QAM modems + Viterbi — directly integrated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37083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RadioML / DeepSig (CC BY-NC-SA)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599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reference only — not used to train our model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919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FISSURE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48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prior art; scoped against for genuine differentiation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5138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licensing + reuse-strategy analysis (reuse / wrap / reimplement / reference, per component) documented in our architecture report.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30952" cy="4480560"/>
          </a:xfrm>
          <a:prstGeom prst="roundRect">
            <a:avLst>
              <a:gd name="adj" fmla="val 1429"/>
            </a:avLst>
          </a:prstGeom>
          <a:solidFill>
            <a:srgbClr val="12161B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1810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FROM HERE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2240280"/>
            <a:ext cx="128016" cy="12801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84848" y="21579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LDPC + concatenated-code decoding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2697480"/>
            <a:ext cx="128016" cy="128016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84848" y="26151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Costas / Gardner timing recovery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3154680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84848" y="30723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Multi-signal-per-file separation (time-freq clustering)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3611880"/>
            <a:ext cx="128016" cy="128016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84848" y="35295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 for lightweight, no-PyTorch deployment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4069080"/>
            <a:ext cx="128016" cy="128016"/>
          </a:xfrm>
          <a:prstGeom prst="ellipse">
            <a:avLst/>
          </a:prstGeom>
          <a:solidFill>
            <a:srgbClr val="38A3E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84848" y="39867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Constellation plot + comparison mode in the GUI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4526280"/>
            <a:ext cx="128016" cy="128016"/>
          </a:xfrm>
          <a:prstGeom prst="ellipse">
            <a:avLst/>
          </a:prstGeom>
          <a:solidFill>
            <a:srgbClr val="38A3E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84848" y="44439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hardening: fuzzing, process isolation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37960" y="5093208"/>
            <a:ext cx="4754880" cy="960120"/>
          </a:xfrm>
          <a:prstGeom prst="roundRect">
            <a:avLst>
              <a:gd name="adj" fmla="val 6667"/>
            </a:avLst>
          </a:prstGeom>
          <a:solidFill>
            <a:srgbClr val="171C22"/>
          </a:solidFill>
          <a:ln w="12700">
            <a:solidFill>
              <a:srgbClr val="232A3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0" y="52120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E4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reports only what has been built and tested — 142/142 automated tests, run against synthetic ground truth, not just “does it import.”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2026-09-02T10:01:16Z</dcterms:created>
  <dcterms:modified xsi:type="dcterms:W3CDTF">2026-09-02T10:01:16Z</dcterms:modified>
</cp:coreProperties>
</file>